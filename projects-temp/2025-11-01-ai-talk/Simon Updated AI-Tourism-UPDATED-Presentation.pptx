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3198555" y="2286000"/>
            <a:ext cx="5794585" cy="850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6000">
                <a:solidFill>
                  <a:srgbClr val="FFFFFF"/>
                </a:solidFill>
              </a:defRPr>
            </a:lvl1pPr>
          </a:lstStyle>
          <a:p>
            <a:pPr/>
            <a:r>
              <a:t>SIMON SMALUHN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4506680" y="3200400"/>
            <a:ext cx="3178335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Co-Founder &amp; CEO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3706990" y="4114800"/>
            <a:ext cx="4777716" cy="644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AkunIndo.id | Printora.ai | Favors.id </a:t>
            </a:r>
            <a:br/>
            <a:r>
              <a:t>AVEV.de | SeminarDesk.com | Favors.venture</a:t>
            </a:r>
          </a:p>
        </p:txBody>
      </p:sp>
      <p:pic>
        <p:nvPicPr>
          <p:cNvPr id="97" name="favourse_logo_horizontal_color-1-2.png.png" descr="favourse_logo_horizontal_color-1-2.pn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26531" y="335541"/>
            <a:ext cx="4629061" cy="972024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Printora.ai-logo-white-small.png" descr="Printora.ai-logo-white-small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846" y="-137108"/>
            <a:ext cx="1917321" cy="1917321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seminardesk-logo-fullcolor.png" descr="seminardesk-logo-fullcolor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224592" y="5920456"/>
            <a:ext cx="4597401" cy="50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20190411-AVeV-Logo.jpg" descr="20190411-AVeV-Logo.jp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5256" y="5390763"/>
            <a:ext cx="4287011" cy="15673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 txBox="1"/>
          <p:nvPr/>
        </p:nvSpPr>
        <p:spPr>
          <a:xfrm>
            <a:off x="3928929" y="1371600"/>
            <a:ext cx="4333837" cy="706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4800">
                <a:solidFill>
                  <a:srgbClr val="FFFFFF"/>
                </a:solidFill>
              </a:defRPr>
            </a:lvl1pPr>
          </a:lstStyle>
          <a:p>
            <a:pPr/>
            <a:r>
              <a:t>You're Spending:</a:t>
            </a:r>
          </a:p>
        </p:txBody>
      </p:sp>
      <p:sp>
        <p:nvSpPr>
          <p:cNvPr id="103" name="TextBox 2"/>
          <p:cNvSpPr txBox="1"/>
          <p:nvPr/>
        </p:nvSpPr>
        <p:spPr>
          <a:xfrm>
            <a:off x="2797451" y="3200400"/>
            <a:ext cx="6596793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2800">
                <a:solidFill>
                  <a:srgbClr val="FFFFFF"/>
                </a:solidFill>
              </a:defRPr>
            </a:lvl1pPr>
          </a:lstStyle>
          <a:p>
            <a:pPr/>
            <a:r>
              <a:t>⏰ 15 hours/week answering same questions</a:t>
            </a:r>
          </a:p>
        </p:txBody>
      </p:sp>
      <p:sp>
        <p:nvSpPr>
          <p:cNvPr id="104" name="TextBox 3"/>
          <p:cNvSpPr txBox="1"/>
          <p:nvPr/>
        </p:nvSpPr>
        <p:spPr>
          <a:xfrm>
            <a:off x="3330417" y="3749038"/>
            <a:ext cx="55308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📱 </a:t>
            </a:r>
            <a:r>
              <a:t>Missing bookings (can't reach you)</a:t>
            </a:r>
          </a:p>
        </p:txBody>
      </p:sp>
      <p:sp>
        <p:nvSpPr>
          <p:cNvPr id="105" name="TextBox 4"/>
          <p:cNvSpPr txBox="1"/>
          <p:nvPr/>
        </p:nvSpPr>
        <p:spPr>
          <a:xfrm>
            <a:off x="3185347" y="4297679"/>
            <a:ext cx="58210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💸 </a:t>
            </a:r>
            <a:r>
              <a:t>Losing money but don't know where</a:t>
            </a:r>
          </a:p>
        </p:txBody>
      </p:sp>
      <p:sp>
        <p:nvSpPr>
          <p:cNvPr id="106" name="TextBox 5"/>
          <p:cNvSpPr txBox="1"/>
          <p:nvPr/>
        </p:nvSpPr>
        <p:spPr>
          <a:xfrm>
            <a:off x="3381639" y="4846318"/>
            <a:ext cx="5428417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🌐 </a:t>
            </a:r>
            <a:r>
              <a:t>Website outdated or doesn't exist</a:t>
            </a:r>
          </a:p>
        </p:txBody>
      </p:sp>
      <p:sp>
        <p:nvSpPr>
          <p:cNvPr id="107" name="TextBox 6"/>
          <p:cNvSpPr txBox="1"/>
          <p:nvPr/>
        </p:nvSpPr>
        <p:spPr>
          <a:xfrm>
            <a:off x="4557207" y="5943600"/>
            <a:ext cx="3077281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3600">
                <a:solidFill>
                  <a:srgbClr val="F59E0B"/>
                </a:solidFill>
              </a:defRPr>
            </a:lvl1pPr>
          </a:lstStyle>
          <a:p>
            <a:pPr/>
            <a:r>
              <a:t>Sound familiar?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"/>
          <p:cNvSpPr txBox="1"/>
          <p:nvPr/>
        </p:nvSpPr>
        <p:spPr>
          <a:xfrm>
            <a:off x="2277880" y="457199"/>
            <a:ext cx="7635935" cy="653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4400">
                <a:solidFill>
                  <a:srgbClr val="1F2937"/>
                </a:solidFill>
              </a:defRPr>
            </a:lvl1pPr>
          </a:lstStyle>
          <a:p>
            <a:pPr/>
            <a:r>
              <a:t>ChatGPT Can Solve These TODAY</a:t>
            </a:r>
          </a:p>
        </p:txBody>
      </p:sp>
      <p:sp>
        <p:nvSpPr>
          <p:cNvPr id="110" name="TextBox 2"/>
          <p:cNvSpPr txBox="1"/>
          <p:nvPr/>
        </p:nvSpPr>
        <p:spPr>
          <a:xfrm>
            <a:off x="1417319" y="1645920"/>
            <a:ext cx="6728928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30000"/>
              </a:lnSpc>
              <a:defRPr sz="2800">
                <a:solidFill>
                  <a:srgbClr val="1F2937"/>
                </a:solidFill>
              </a:defRPr>
            </a:lvl1pPr>
          </a:lstStyle>
          <a:p>
            <a:pPr/>
            <a:r>
              <a:t>1. FAQ ANSWERS - Write 5 FAQs in 10 seconds</a:t>
            </a:r>
          </a:p>
        </p:txBody>
      </p:sp>
      <p:sp>
        <p:nvSpPr>
          <p:cNvPr id="111" name="TextBox 3"/>
          <p:cNvSpPr txBox="1"/>
          <p:nvPr/>
        </p:nvSpPr>
        <p:spPr>
          <a:xfrm>
            <a:off x="1417319" y="2560320"/>
            <a:ext cx="6631520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30000"/>
              </a:lnSpc>
              <a:defRPr sz="2800">
                <a:solidFill>
                  <a:srgbClr val="1F2937"/>
                </a:solidFill>
              </a:defRPr>
            </a:lvl1pPr>
          </a:lstStyle>
          <a:p>
            <a:pPr/>
            <a:r>
              <a:t>2. WEBSITE CONTENT - About Us, tours, FAQs</a:t>
            </a:r>
          </a:p>
        </p:txBody>
      </p:sp>
      <p:sp>
        <p:nvSpPr>
          <p:cNvPr id="112" name="TextBox 4"/>
          <p:cNvSpPr txBox="1"/>
          <p:nvPr/>
        </p:nvSpPr>
        <p:spPr>
          <a:xfrm>
            <a:off x="1417319" y="3474720"/>
            <a:ext cx="7946094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30000"/>
              </a:lnSpc>
              <a:defRPr sz="2800">
                <a:solidFill>
                  <a:srgbClr val="1F2937"/>
                </a:solidFill>
              </a:defRPr>
            </a:lvl1pPr>
          </a:lstStyle>
          <a:p>
            <a:pPr/>
            <a:r>
              <a:t>3. RECYCLE VIDEOS - 1 video → 10 clips + 10 languages</a:t>
            </a:r>
          </a:p>
        </p:txBody>
      </p:sp>
      <p:sp>
        <p:nvSpPr>
          <p:cNvPr id="113" name="TextBox 5"/>
          <p:cNvSpPr txBox="1"/>
          <p:nvPr/>
        </p:nvSpPr>
        <p:spPr>
          <a:xfrm>
            <a:off x="1417319" y="4389120"/>
            <a:ext cx="7900255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30000"/>
              </a:lnSpc>
              <a:defRPr sz="2800">
                <a:solidFill>
                  <a:srgbClr val="1F2937"/>
                </a:solidFill>
              </a:defRPr>
            </a:lvl1pPr>
          </a:lstStyle>
          <a:p>
            <a:pPr/>
            <a:r>
              <a:t>4. MULTILINGUAL - Translate anything to 10 languages</a:t>
            </a:r>
          </a:p>
        </p:txBody>
      </p:sp>
      <p:sp>
        <p:nvSpPr>
          <p:cNvPr id="114" name="TextBox 6"/>
          <p:cNvSpPr txBox="1"/>
          <p:nvPr/>
        </p:nvSpPr>
        <p:spPr>
          <a:xfrm>
            <a:off x="1417319" y="5303520"/>
            <a:ext cx="7766557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30000"/>
              </a:lnSpc>
              <a:defRPr sz="2800">
                <a:solidFill>
                  <a:srgbClr val="1F2937"/>
                </a:solidFill>
              </a:defRPr>
            </a:lvl1pPr>
          </a:lstStyle>
          <a:p>
            <a:pPr/>
            <a:r>
              <a:t>5. COMPETITIVE RESEARCH - What tourists search for</a:t>
            </a:r>
          </a:p>
        </p:txBody>
      </p:sp>
      <p:sp>
        <p:nvSpPr>
          <p:cNvPr id="115" name="TextBox 7"/>
          <p:cNvSpPr txBox="1"/>
          <p:nvPr/>
        </p:nvSpPr>
        <p:spPr>
          <a:xfrm>
            <a:off x="2630677" y="5943599"/>
            <a:ext cx="693034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i="1" sz="2400">
                <a:solidFill>
                  <a:srgbClr val="F59E0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💡 </a:t>
            </a:r>
            <a:r>
              <a:t>PRO TIP: LLMs love FAQs → Google ranks you higher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 txBox="1"/>
          <p:nvPr/>
        </p:nvSpPr>
        <p:spPr>
          <a:xfrm>
            <a:off x="1920308" y="457199"/>
            <a:ext cx="8351079" cy="653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4400">
                <a:solidFill>
                  <a:srgbClr val="1F2937"/>
                </a:solidFill>
              </a:defRPr>
            </a:lvl1pPr>
          </a:lstStyle>
          <a:p>
            <a:pPr/>
            <a:r>
              <a:t>Stop Losing Money While You Sleep</a:t>
            </a:r>
          </a:p>
        </p:txBody>
      </p:sp>
      <p:grpSp>
        <p:nvGrpSpPr>
          <p:cNvPr id="120" name="Rounded Rectangle 2"/>
          <p:cNvGrpSpPr/>
          <p:nvPr/>
        </p:nvGrpSpPr>
        <p:grpSpPr>
          <a:xfrm>
            <a:off x="457200" y="1645920"/>
            <a:ext cx="5029200" cy="3657601"/>
            <a:chOff x="0" y="0"/>
            <a:chExt cx="5029200" cy="3657600"/>
          </a:xfrm>
        </p:grpSpPr>
        <p:sp>
          <p:nvSpPr>
            <p:cNvPr id="118" name="Rounded Rectangle"/>
            <p:cNvSpPr/>
            <p:nvPr/>
          </p:nvSpPr>
          <p:spPr>
            <a:xfrm>
              <a:off x="0" y="0"/>
              <a:ext cx="5029200" cy="3657600"/>
            </a:xfrm>
            <a:prstGeom prst="roundRect">
              <a:avLst>
                <a:gd name="adj" fmla="val 16667"/>
              </a:avLst>
            </a:prstGeom>
            <a:solidFill>
              <a:srgbClr val="FEE2E2"/>
            </a:solidFill>
            <a:ln w="38100" cap="flat">
              <a:solidFill>
                <a:srgbClr val="EF444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1F2937"/>
                  </a:solidFill>
                </a:defRPr>
              </a:pPr>
            </a:p>
          </p:txBody>
        </p:sp>
        <p:sp>
          <p:nvSpPr>
            <p:cNvPr id="119" name="❌ MANUAL…"/>
            <p:cNvSpPr txBox="1"/>
            <p:nvPr/>
          </p:nvSpPr>
          <p:spPr>
            <a:xfrm>
              <a:off x="243318" y="355074"/>
              <a:ext cx="4542564" cy="29474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2400">
                  <a:solidFill>
                    <a:srgbClr val="EF4444"/>
                  </a:solidFill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❌ </a:t>
              </a:r>
              <a:r>
                <a:t>MANUAL</a:t>
              </a:r>
            </a:p>
            <a:p>
              <a:pPr algn="ctr">
                <a:defRPr sz="2000">
                  <a:solidFill>
                    <a:srgbClr val="1F2937"/>
                  </a:solidFill>
                </a:defRPr>
              </a:pPr>
            </a:p>
            <a:p>
              <a:pPr algn="ctr">
                <a:defRPr sz="2000">
                  <a:solidFill>
                    <a:srgbClr val="1F2937"/>
                  </a:solidFill>
                </a:defRPr>
              </a:pPr>
              <a:r>
                <a:t>Tourist emails</a:t>
              </a:r>
            </a:p>
            <a:p>
              <a:pPr algn="ctr">
                <a:defRPr sz="2000">
                  <a:solidFill>
                    <a:srgbClr val="1F2937"/>
                  </a:solidFill>
                </a:defRPr>
              </a:pPr>
              <a:r>
                <a:t>↓</a:t>
              </a:r>
            </a:p>
            <a:p>
              <a:pPr algn="ctr">
                <a:defRPr sz="2000">
                  <a:solidFill>
                    <a:srgbClr val="1F2937"/>
                  </a:solidFill>
                </a:defRPr>
              </a:pPr>
              <a:r>
                <a:t>You reply tomorrow</a:t>
              </a:r>
            </a:p>
            <a:p>
              <a:pPr algn="ctr">
                <a:defRPr sz="2000">
                  <a:solidFill>
                    <a:srgbClr val="1F2937"/>
                  </a:solidFill>
                </a:defRPr>
              </a:pPr>
              <a:r>
                <a:t>↓</a:t>
              </a:r>
            </a:p>
            <a:p>
              <a:pPr algn="ctr">
                <a:defRPr sz="2000">
                  <a:solidFill>
                    <a:srgbClr val="1F2937"/>
                  </a:solidFill>
                </a:defRPr>
              </a:pPr>
              <a:r>
                <a:t>5 messages back/forth</a:t>
              </a:r>
            </a:p>
            <a:p>
              <a:pPr algn="ctr">
                <a:defRPr sz="2000">
                  <a:solidFill>
                    <a:srgbClr val="1F2937"/>
                  </a:solidFill>
                </a:defRPr>
              </a:pPr>
              <a:r>
                <a:t>↓</a:t>
              </a:r>
            </a:p>
            <a:p>
              <a:pPr algn="ctr">
                <a:defRPr sz="2000">
                  <a:solidFill>
                    <a:srgbClr val="1F2937"/>
                  </a:solidFill>
                </a:defRPr>
              </a:pPr>
              <a:r>
                <a:t>They book elsewhere</a:t>
              </a:r>
            </a:p>
          </p:txBody>
        </p:sp>
      </p:grpSp>
      <p:grpSp>
        <p:nvGrpSpPr>
          <p:cNvPr id="123" name="Rounded Rectangle 3"/>
          <p:cNvGrpSpPr/>
          <p:nvPr/>
        </p:nvGrpSpPr>
        <p:grpSpPr>
          <a:xfrm>
            <a:off x="6705295" y="1645920"/>
            <a:ext cx="5029201" cy="3657601"/>
            <a:chOff x="0" y="0"/>
            <a:chExt cx="5029200" cy="3657600"/>
          </a:xfrm>
        </p:grpSpPr>
        <p:sp>
          <p:nvSpPr>
            <p:cNvPr id="121" name="Rounded Rectangle"/>
            <p:cNvSpPr/>
            <p:nvPr/>
          </p:nvSpPr>
          <p:spPr>
            <a:xfrm>
              <a:off x="0" y="0"/>
              <a:ext cx="5029200" cy="3657600"/>
            </a:xfrm>
            <a:prstGeom prst="roundRect">
              <a:avLst>
                <a:gd name="adj" fmla="val 16667"/>
              </a:avLst>
            </a:prstGeom>
            <a:solidFill>
              <a:srgbClr val="D1FAE5"/>
            </a:solidFill>
            <a:ln w="38100" cap="flat">
              <a:solidFill>
                <a:srgbClr val="10B98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1F2937"/>
                  </a:solidFill>
                </a:defRPr>
              </a:pPr>
            </a:p>
          </p:txBody>
        </p:sp>
        <p:sp>
          <p:nvSpPr>
            <p:cNvPr id="122" name="✅ AUTOMATED…"/>
            <p:cNvSpPr txBox="1"/>
            <p:nvPr/>
          </p:nvSpPr>
          <p:spPr>
            <a:xfrm>
              <a:off x="243318" y="355074"/>
              <a:ext cx="4542564" cy="29474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2400">
                  <a:solidFill>
                    <a:srgbClr val="10B981"/>
                  </a:solidFill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✅ </a:t>
              </a:r>
              <a:r>
                <a:t>AUTOMATED</a:t>
              </a:r>
            </a:p>
            <a:p>
              <a:pPr algn="ctr">
                <a:defRPr sz="2000">
                  <a:solidFill>
                    <a:srgbClr val="1F2937"/>
                  </a:solidFill>
                </a:defRPr>
              </a:pPr>
            </a:p>
            <a:p>
              <a:pPr algn="ctr">
                <a:defRPr sz="2000">
                  <a:solidFill>
                    <a:srgbClr val="1F2937"/>
                  </a:solidFill>
                </a:defRPr>
              </a:pPr>
              <a:r>
                <a:t>Tourist clicks link</a:t>
              </a:r>
            </a:p>
            <a:p>
              <a:pPr algn="ctr">
                <a:defRPr sz="2000">
                  <a:solidFill>
                    <a:srgbClr val="1F2937"/>
                  </a:solidFill>
                </a:defRPr>
              </a:pPr>
              <a:r>
                <a:t>↓</a:t>
              </a:r>
            </a:p>
            <a:p>
              <a:pPr algn="ctr">
                <a:defRPr sz="2000">
                  <a:solidFill>
                    <a:srgbClr val="1F2937"/>
                  </a:solidFill>
                </a:defRPr>
              </a:pPr>
              <a:r>
                <a:t>Sees available times</a:t>
              </a:r>
            </a:p>
            <a:p>
              <a:pPr algn="ctr">
                <a:defRPr sz="2000">
                  <a:solidFill>
                    <a:srgbClr val="1F2937"/>
                  </a:solidFill>
                </a:defRPr>
              </a:pPr>
              <a:r>
                <a:t>↓</a:t>
              </a:r>
            </a:p>
            <a:p>
              <a:pPr algn="ctr">
                <a:defRPr sz="2000">
                  <a:solidFill>
                    <a:srgbClr val="1F2937"/>
                  </a:solidFill>
                </a:defRPr>
              </a:pPr>
              <a:r>
                <a:t>Books &amp; pays instantly</a:t>
              </a:r>
            </a:p>
            <a:p>
              <a:pPr algn="ctr">
                <a:defRPr sz="2000">
                  <a:solidFill>
                    <a:srgbClr val="1F2937"/>
                  </a:solidFill>
                </a:defRPr>
              </a:pPr>
              <a:r>
                <a:t>↓</a:t>
              </a:r>
            </a:p>
            <a:p>
              <a:pPr algn="ctr">
                <a:defRPr sz="2000">
                  <a:solidFill>
                    <a:srgbClr val="1F2937"/>
                  </a:solidFill>
                </a:defRPr>
              </a:pPr>
              <a:r>
                <a:t>You make money</a:t>
              </a:r>
            </a:p>
          </p:txBody>
        </p:sp>
      </p:grpSp>
      <p:sp>
        <p:nvSpPr>
          <p:cNvPr id="124" name="TextBox 4"/>
          <p:cNvSpPr txBox="1"/>
          <p:nvPr/>
        </p:nvSpPr>
        <p:spPr>
          <a:xfrm>
            <a:off x="2641045" y="5760720"/>
            <a:ext cx="6909605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2200">
                <a:solidFill>
                  <a:srgbClr val="2563EB"/>
                </a:solidFill>
              </a:defRPr>
            </a:lvl1pPr>
          </a:lstStyle>
          <a:p>
            <a:pPr/>
            <a:r>
              <a:t>Tools: WhatsApp Business (free) | Calendly (free) | Favors.id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 txBox="1"/>
          <p:nvPr/>
        </p:nvSpPr>
        <p:spPr>
          <a:xfrm>
            <a:off x="2784019" y="457199"/>
            <a:ext cx="6623657" cy="653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4400">
                <a:solidFill>
                  <a:srgbClr val="1F2937"/>
                </a:solidFill>
              </a:defRPr>
            </a:lvl1pPr>
          </a:lstStyle>
          <a:p>
            <a:pPr/>
            <a:r>
              <a:t>How To Know If It's Working</a:t>
            </a:r>
          </a:p>
        </p:txBody>
      </p:sp>
      <p:sp>
        <p:nvSpPr>
          <p:cNvPr id="127" name="TextBox 2"/>
          <p:cNvSpPr txBox="1"/>
          <p:nvPr/>
        </p:nvSpPr>
        <p:spPr>
          <a:xfrm>
            <a:off x="4131336" y="1188719"/>
            <a:ext cx="3929023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3200">
                <a:solidFill>
                  <a:srgbClr val="1F2937"/>
                </a:solidFill>
              </a:defRPr>
            </a:lvl1pPr>
          </a:lstStyle>
          <a:p>
            <a:pPr/>
            <a:r>
              <a:t>Track ONLY 3 Numbers:</a:t>
            </a:r>
          </a:p>
        </p:txBody>
      </p:sp>
      <p:sp>
        <p:nvSpPr>
          <p:cNvPr id="128" name="TextBox 3"/>
          <p:cNvSpPr txBox="1"/>
          <p:nvPr/>
        </p:nvSpPr>
        <p:spPr>
          <a:xfrm>
            <a:off x="2166104" y="2285999"/>
            <a:ext cx="3274577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b="1" sz="3200">
                <a:solidFill>
                  <a:srgbClr val="2563E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📊 </a:t>
            </a:r>
            <a:r>
              <a:t>Response Time:</a:t>
            </a:r>
          </a:p>
        </p:txBody>
      </p:sp>
      <p:sp>
        <p:nvSpPr>
          <p:cNvPr id="129" name="TextBox 4"/>
          <p:cNvSpPr txBox="1"/>
          <p:nvPr/>
        </p:nvSpPr>
        <p:spPr>
          <a:xfrm>
            <a:off x="5989319" y="2285999"/>
            <a:ext cx="3061059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3200">
                <a:solidFill>
                  <a:srgbClr val="1F2937"/>
                </a:solidFill>
              </a:defRPr>
            </a:pPr>
            <a:r>
              <a:t>4 hrs 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🎯 </a:t>
            </a:r>
            <a:r>
              <a:t>1 hour</a:t>
            </a:r>
          </a:p>
        </p:txBody>
      </p:sp>
      <p:sp>
        <p:nvSpPr>
          <p:cNvPr id="130" name="TextBox 5"/>
          <p:cNvSpPr txBox="1"/>
          <p:nvPr/>
        </p:nvSpPr>
        <p:spPr>
          <a:xfrm>
            <a:off x="3172579" y="3474720"/>
            <a:ext cx="226810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b="1" sz="3200">
                <a:solidFill>
                  <a:srgbClr val="10B98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💰 </a:t>
            </a:r>
            <a:r>
              <a:t>Bookings:</a:t>
            </a:r>
          </a:p>
        </p:txBody>
      </p:sp>
      <p:sp>
        <p:nvSpPr>
          <p:cNvPr id="131" name="TextBox 6"/>
          <p:cNvSpPr txBox="1"/>
          <p:nvPr/>
        </p:nvSpPr>
        <p:spPr>
          <a:xfrm>
            <a:off x="5989319" y="3474720"/>
            <a:ext cx="199902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3200">
                <a:solidFill>
                  <a:srgbClr val="1F2937"/>
                </a:solidFill>
              </a:defRPr>
            </a:pPr>
            <a:r>
              <a:t>12 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🎯 </a:t>
            </a:r>
            <a:r>
              <a:t>15</a:t>
            </a:r>
          </a:p>
        </p:txBody>
      </p:sp>
      <p:sp>
        <p:nvSpPr>
          <p:cNvPr id="132" name="TextBox 7"/>
          <p:cNvSpPr txBox="1"/>
          <p:nvPr/>
        </p:nvSpPr>
        <p:spPr>
          <a:xfrm>
            <a:off x="2488168" y="4663440"/>
            <a:ext cx="2952513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3200">
                <a:solidFill>
                  <a:srgbClr val="F59E0B"/>
                </a:solidFill>
              </a:defRPr>
            </a:lvl1pPr>
          </a:lstStyle>
          <a:p>
            <a:pPr/>
            <a:r>
              <a:t>⭐ Review Score:</a:t>
            </a:r>
          </a:p>
        </p:txBody>
      </p:sp>
      <p:sp>
        <p:nvSpPr>
          <p:cNvPr id="133" name="TextBox 8"/>
          <p:cNvSpPr txBox="1"/>
          <p:nvPr/>
        </p:nvSpPr>
        <p:spPr>
          <a:xfrm>
            <a:off x="5989319" y="4663440"/>
            <a:ext cx="2204206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3200">
                <a:solidFill>
                  <a:srgbClr val="1F2937"/>
                </a:solidFill>
              </a:defRPr>
            </a:pPr>
            <a:r>
              <a:t>4.3 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🎯 </a:t>
            </a:r>
            <a:r>
              <a:t>4.5</a:t>
            </a:r>
          </a:p>
        </p:txBody>
      </p:sp>
      <p:sp>
        <p:nvSpPr>
          <p:cNvPr id="134" name="TextBox 9"/>
          <p:cNvSpPr txBox="1"/>
          <p:nvPr/>
        </p:nvSpPr>
        <p:spPr>
          <a:xfrm>
            <a:off x="1998046" y="5669279"/>
            <a:ext cx="8195603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800">
                <a:solidFill>
                  <a:srgbClr val="1F2937"/>
                </a:solidFill>
              </a:defRPr>
            </a:lvl1pPr>
          </a:lstStyle>
          <a:p>
            <a:pPr/>
            <a:r>
              <a:t>Fix the WORST one first → Measure weekly → Improve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 txBox="1"/>
          <p:nvPr/>
        </p:nvSpPr>
        <p:spPr>
          <a:xfrm>
            <a:off x="2373514" y="457199"/>
            <a:ext cx="7444667" cy="653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4400">
                <a:solidFill>
                  <a:srgbClr val="1F2937"/>
                </a:solidFill>
              </a:defRPr>
            </a:lvl1pPr>
          </a:lstStyle>
          <a:p>
            <a:pPr/>
            <a:r>
              <a:t>Simple ROI Calculation Example</a:t>
            </a:r>
          </a:p>
        </p:txBody>
      </p:sp>
      <p:sp>
        <p:nvSpPr>
          <p:cNvPr id="137" name="Rounded Rectangle 2"/>
          <p:cNvSpPr/>
          <p:nvPr/>
        </p:nvSpPr>
        <p:spPr>
          <a:xfrm>
            <a:off x="3396101" y="3138664"/>
            <a:ext cx="6249212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2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  <a:r>
              <a:t>⏰ Time Saved (hypothetical):</a:t>
            </a:r>
          </a:p>
          <a:p>
            <a:pPr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  <a:r>
              <a:t>   10 hours/week × $5/hour</a:t>
            </a:r>
          </a:p>
          <a:p>
            <a:pPr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  <a:r>
              <a:t>   = $50/week</a:t>
            </a:r>
          </a:p>
          <a:p>
            <a:pPr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📈 </a:t>
            </a:r>
            <a:r>
              <a:t>Extra Bookings (assumed):</a:t>
            </a:r>
          </a:p>
          <a:p>
            <a:pPr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  <a:r>
              <a:t>   5 bookings/month × $30</a:t>
            </a:r>
          </a:p>
          <a:p>
            <a:pPr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  <a:r>
              <a:t>   = $150/month</a:t>
            </a:r>
          </a:p>
          <a:p>
            <a:pPr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💰 </a:t>
            </a:r>
            <a:r>
              <a:t>Technology Cost:</a:t>
            </a:r>
          </a:p>
          <a:p>
            <a:pPr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  <a:r>
              <a:t>   Free tools = $0</a:t>
            </a:r>
          </a:p>
          <a:p>
            <a:pPr algn="ctr">
              <a:spcBef>
                <a:spcPts val="1200"/>
              </a:spcBef>
              <a:defRPr b="1" sz="2600">
                <a:solidFill>
                  <a:srgbClr val="10B98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 </a:t>
            </a:r>
            <a:r>
              <a:t>POTENTIAL ROI: ~$4,200/year</a:t>
            </a:r>
          </a:p>
        </p:txBody>
      </p:sp>
      <p:sp>
        <p:nvSpPr>
          <p:cNvPr id="138" name="TextBox 3"/>
          <p:cNvSpPr txBox="1"/>
          <p:nvPr/>
        </p:nvSpPr>
        <p:spPr>
          <a:xfrm>
            <a:off x="3555371" y="5486400"/>
            <a:ext cx="5080953" cy="708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lvl="8" algn="ctr">
              <a:defRPr b="1" sz="2400">
                <a:solidFill>
                  <a:srgbClr val="F59E0B"/>
                </a:solidFill>
              </a:defRPr>
            </a:pPr>
          </a:p>
          <a:p>
            <a:pPr algn="ctr">
              <a:defRPr sz="2000">
                <a:solidFill>
                  <a:srgbClr val="1F2937"/>
                </a:solidFill>
              </a:defRPr>
            </a:pPr>
            <a:r>
              <a:t>The FORMULA is what matters, not my example.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"/>
          <p:cNvSpPr txBox="1"/>
          <p:nvPr/>
        </p:nvSpPr>
        <p:spPr>
          <a:xfrm>
            <a:off x="1425516" y="457199"/>
            <a:ext cx="9340663" cy="60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4000">
                <a:solidFill>
                  <a:srgbClr val="1F2937"/>
                </a:solidFill>
              </a:defRPr>
            </a:lvl1pPr>
          </a:lstStyle>
          <a:p>
            <a:pPr/>
            <a:r>
              <a:t>AI Doesn't REPLACE You — It AMPLIFIES You</a:t>
            </a:r>
          </a:p>
        </p:txBody>
      </p:sp>
      <p:sp>
        <p:nvSpPr>
          <p:cNvPr id="141" name="TextBox 2"/>
          <p:cNvSpPr txBox="1"/>
          <p:nvPr/>
        </p:nvSpPr>
        <p:spPr>
          <a:xfrm>
            <a:off x="2277660" y="1645920"/>
            <a:ext cx="2302680" cy="3142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b="1" sz="3200">
                <a:solidFill>
                  <a:srgbClr val="2563EB"/>
                </a:solidFill>
              </a:defRPr>
            </a:pPr>
            <a:r>
              <a:t>AI HANDLES</a:t>
            </a:r>
            <a:endParaRPr sz="2600">
              <a:solidFill>
                <a:srgbClr val="1F2937"/>
              </a:solidFill>
            </a:endParaRP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🤖 </a:t>
            </a:r>
            <a:r>
              <a:t>Translations</a:t>
            </a: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💬 </a:t>
            </a:r>
            <a:r>
              <a:t>FAQs</a:t>
            </a: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📊 </a:t>
            </a:r>
            <a:r>
              <a:t>Data Analysis</a:t>
            </a: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  <a:r>
              <a:t>⏰ Scheduling</a:t>
            </a:r>
          </a:p>
        </p:txBody>
      </p:sp>
      <p:sp>
        <p:nvSpPr>
          <p:cNvPr id="142" name="TextBox 3"/>
          <p:cNvSpPr txBox="1"/>
          <p:nvPr/>
        </p:nvSpPr>
        <p:spPr>
          <a:xfrm>
            <a:off x="7174917" y="1645920"/>
            <a:ext cx="3175556" cy="3142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b="1" sz="3200">
                <a:solidFill>
                  <a:srgbClr val="F59E0B"/>
                </a:solidFill>
              </a:defRPr>
            </a:pPr>
            <a:r>
              <a:t>HUMANS HANDLE</a:t>
            </a:r>
            <a:endParaRPr sz="2600">
              <a:solidFill>
                <a:srgbClr val="1F2937"/>
              </a:solidFill>
            </a:endParaRP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👥 </a:t>
            </a:r>
            <a:r>
              <a:t>Storytelling</a:t>
            </a: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❤️ </a:t>
            </a:r>
            <a:r>
              <a:t>Hospitality</a:t>
            </a: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🎭 </a:t>
            </a:r>
            <a:r>
              <a:t>Culture</a:t>
            </a: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✨ </a:t>
            </a:r>
            <a:r>
              <a:t>Authentic Touch</a:t>
            </a:r>
          </a:p>
        </p:txBody>
      </p:sp>
      <p:sp>
        <p:nvSpPr>
          <p:cNvPr id="143" name="TextBox 4"/>
          <p:cNvSpPr txBox="1"/>
          <p:nvPr/>
        </p:nvSpPr>
        <p:spPr>
          <a:xfrm>
            <a:off x="3303851" y="5669279"/>
            <a:ext cx="5583993" cy="840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b="1" sz="2400">
                <a:solidFill>
                  <a:srgbClr val="F59E0B"/>
                </a:solidFill>
              </a:defRPr>
            </a:pPr>
            <a:r>
              <a:t>Your grandmother's story = IRREPLACEABLE</a:t>
            </a:r>
          </a:p>
          <a:p>
            <a:pPr algn="ctr">
              <a:defRPr sz="2200">
                <a:solidFill>
                  <a:srgbClr val="1F2937"/>
                </a:solidFill>
              </a:defRPr>
            </a:pPr>
            <a:r>
              <a:t>ChatGPT just translates it to 50 languages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🌍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"/>
          <p:cNvSpPr txBox="1"/>
          <p:nvPr/>
        </p:nvSpPr>
        <p:spPr>
          <a:xfrm>
            <a:off x="2610895" y="365759"/>
            <a:ext cx="6969905" cy="653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4400">
                <a:solidFill>
                  <a:srgbClr val="1F2937"/>
                </a:solidFill>
              </a:defRPr>
            </a:lvl1pPr>
          </a:lstStyle>
          <a:p>
            <a:pPr/>
            <a:r>
              <a:t>What To Do Monday Morning</a:t>
            </a:r>
          </a:p>
        </p:txBody>
      </p:sp>
      <p:sp>
        <p:nvSpPr>
          <p:cNvPr id="146" name="TextBox 2"/>
          <p:cNvSpPr txBox="1"/>
          <p:nvPr/>
        </p:nvSpPr>
        <p:spPr>
          <a:xfrm>
            <a:off x="777239" y="1188719"/>
            <a:ext cx="8132662" cy="893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2800">
                <a:solidFill>
                  <a:srgbClr val="2563EB"/>
                </a:solidFill>
              </a:defRPr>
            </a:pPr>
            <a:r>
              <a:t>1. YOUR FIRST CHATGPT PROMPT</a:t>
            </a:r>
          </a:p>
          <a:p>
            <a:pPr>
              <a:spcBef>
                <a:spcPts val="600"/>
              </a:spcBef>
              <a:defRPr sz="2200">
                <a:solidFill>
                  <a:srgbClr val="1F2937"/>
                </a:solidFill>
              </a:defRPr>
            </a:pPr>
            <a:r>
              <a:t>Go to ChatGPT.com (free) → "Write 5 FAQs for rice tour" → Copy &amp; use</a:t>
            </a:r>
          </a:p>
        </p:txBody>
      </p:sp>
      <p:sp>
        <p:nvSpPr>
          <p:cNvPr id="147" name="TextBox 3"/>
          <p:cNvSpPr txBox="1"/>
          <p:nvPr/>
        </p:nvSpPr>
        <p:spPr>
          <a:xfrm>
            <a:off x="777239" y="2283459"/>
            <a:ext cx="5085320" cy="2087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2800">
                <a:solidFill>
                  <a:srgbClr val="10B981"/>
                </a:solidFill>
              </a:defRPr>
            </a:pPr>
            <a:r>
              <a:t>2. START WITH FREE TOOLS</a:t>
            </a:r>
          </a:p>
          <a:p>
            <a:pPr>
              <a:spcBef>
                <a:spcPts val="400"/>
              </a:spcBef>
              <a:defRPr sz="2200">
                <a:solidFill>
                  <a:srgbClr val="1F2937"/>
                </a:solidFill>
              </a:defRPr>
            </a:pPr>
            <a:r>
              <a:t>• WhatsApp Business (free quick replies)</a:t>
            </a:r>
          </a:p>
          <a:p>
            <a:pPr>
              <a:spcBef>
                <a:spcPts val="400"/>
              </a:spcBef>
              <a:defRPr sz="2200">
                <a:solidFill>
                  <a:srgbClr val="1F2937"/>
                </a:solidFill>
              </a:defRPr>
            </a:pPr>
            <a:r>
              <a:t>• Wix ADI (free website builder)</a:t>
            </a:r>
          </a:p>
          <a:p>
            <a:pPr>
              <a:spcBef>
                <a:spcPts val="400"/>
              </a:spcBef>
              <a:defRPr sz="2200">
                <a:solidFill>
                  <a:srgbClr val="1F2937"/>
                </a:solidFill>
              </a:defRPr>
            </a:pPr>
            <a:r>
              <a:t>• OpusClip (free video clips)</a:t>
            </a:r>
          </a:p>
          <a:p>
            <a:pPr>
              <a:spcBef>
                <a:spcPts val="400"/>
              </a:spcBef>
              <a:defRPr sz="2200">
                <a:solidFill>
                  <a:srgbClr val="1F2937"/>
                </a:solidFill>
              </a:defRPr>
            </a:pPr>
            <a:r>
              <a:t>• Google Calendar + Calendly (free booking)</a:t>
            </a:r>
          </a:p>
        </p:txBody>
      </p:sp>
      <p:sp>
        <p:nvSpPr>
          <p:cNvPr id="148" name="TextBox 4"/>
          <p:cNvSpPr txBox="1"/>
          <p:nvPr/>
        </p:nvSpPr>
        <p:spPr>
          <a:xfrm>
            <a:off x="777239" y="4572000"/>
            <a:ext cx="8167178" cy="89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2800">
                <a:solidFill>
                  <a:srgbClr val="F59E0B"/>
                </a:solidFill>
              </a:defRPr>
            </a:pPr>
            <a:r>
              <a:t>3. ASK ONE QUESTION AFTER EVERY TOUR</a:t>
            </a:r>
          </a:p>
          <a:p>
            <a:pPr>
              <a:spcBef>
                <a:spcPts val="600"/>
              </a:spcBef>
              <a:defRPr sz="2200">
                <a:solidFill>
                  <a:srgbClr val="1F2937"/>
                </a:solidFill>
              </a:defRPr>
            </a:pPr>
            <a:r>
              <a:t>"What info did you need BEFORE you decided to book?" → Fix that first</a:t>
            </a:r>
          </a:p>
        </p:txBody>
      </p:sp>
      <p:sp>
        <p:nvSpPr>
          <p:cNvPr id="149" name="TextBox 5"/>
          <p:cNvSpPr txBox="1"/>
          <p:nvPr/>
        </p:nvSpPr>
        <p:spPr>
          <a:xfrm>
            <a:off x="2534397" y="5943599"/>
            <a:ext cx="712290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800">
                <a:solidFill>
                  <a:srgbClr val="1F2937"/>
                </a:solidFill>
              </a:defRPr>
            </a:lvl1pPr>
          </a:lstStyle>
          <a:p>
            <a:pPr/>
            <a:r>
              <a:t>Start small. Measure everything. Use free tools.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 txBox="1"/>
          <p:nvPr/>
        </p:nvSpPr>
        <p:spPr>
          <a:xfrm>
            <a:off x="3087955" y="489540"/>
            <a:ext cx="6003390" cy="24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spcBef>
                <a:spcPts val="800"/>
              </a:spcBef>
              <a:defRPr b="1" sz="4800">
                <a:solidFill>
                  <a:srgbClr val="1F2937"/>
                </a:solidFill>
              </a:defRPr>
            </a:pPr>
            <a:r>
              <a:t>START SMALL</a:t>
            </a:r>
          </a:p>
          <a:p>
            <a:pPr algn="ctr">
              <a:spcBef>
                <a:spcPts val="800"/>
              </a:spcBef>
              <a:defRPr b="1" sz="4800">
                <a:solidFill>
                  <a:srgbClr val="1F2937"/>
                </a:solidFill>
              </a:defRPr>
            </a:pPr>
            <a:r>
              <a:t>MEASURE EVERYTHING</a:t>
            </a:r>
          </a:p>
          <a:p>
            <a:pPr algn="ctr">
              <a:spcBef>
                <a:spcPts val="800"/>
              </a:spcBef>
              <a:defRPr b="1" sz="4800">
                <a:solidFill>
                  <a:srgbClr val="1F2937"/>
                </a:solidFill>
              </a:defRPr>
            </a:pPr>
            <a:r>
              <a:t>USE FREE TOOLS</a:t>
            </a:r>
          </a:p>
        </p:txBody>
      </p:sp>
      <p:sp>
        <p:nvSpPr>
          <p:cNvPr id="152" name="TextBox 2"/>
          <p:cNvSpPr txBox="1"/>
          <p:nvPr/>
        </p:nvSpPr>
        <p:spPr>
          <a:xfrm>
            <a:off x="3512781" y="3200400"/>
            <a:ext cx="5166133" cy="1955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b="1" sz="3600">
                <a:solidFill>
                  <a:srgbClr val="1F2937"/>
                </a:solidFill>
              </a:defRPr>
            </a:pPr>
            <a:r>
              <a:t>SIMON SMALUHN</a:t>
            </a:r>
          </a:p>
          <a:p>
            <a:pPr algn="ctr">
              <a:defRPr sz="2400">
                <a:solidFill>
                  <a:srgbClr val="1F2937"/>
                </a:solidFill>
              </a:defRPr>
            </a:pPr>
            <a:r>
              <a:t>Co-Founder &amp; CEO</a:t>
            </a:r>
          </a:p>
          <a:p>
            <a:pPr algn="ctr">
              <a:defRPr sz="2600">
                <a:solidFill>
                  <a:srgbClr val="2563E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📱 </a:t>
            </a:r>
            <a:r>
              <a:t>WhatsApp: +49 177 777 97 49</a:t>
            </a:r>
          </a:p>
          <a:p>
            <a:pPr algn="ctr">
              <a:defRPr sz="2600">
                <a:solidFill>
                  <a:srgbClr val="2563E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💼 </a:t>
            </a:r>
            <a:r>
              <a:t>LinkedIn: linkedin.com/in/smaluhn</a:t>
            </a:r>
          </a:p>
        </p:txBody>
      </p:sp>
      <p:sp>
        <p:nvSpPr>
          <p:cNvPr id="153" name="TextBox 3"/>
          <p:cNvSpPr txBox="1"/>
          <p:nvPr/>
        </p:nvSpPr>
        <p:spPr>
          <a:xfrm>
            <a:off x="3706121" y="5303520"/>
            <a:ext cx="4779453" cy="764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000">
                <a:solidFill>
                  <a:srgbClr val="2563E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🌐 </a:t>
            </a:r>
            <a:r>
              <a:t>favors.id | akunindo.id | printora.ai</a:t>
            </a:r>
          </a:p>
          <a:p>
            <a:pPr algn="ctr">
              <a:defRPr sz="2000">
                <a:solidFill>
                  <a:srgbClr val="2563EB"/>
                </a:solidFill>
              </a:defRPr>
            </a:pPr>
            <a:r>
              <a:t>seminardesk.com | avev.de | favors.ventures </a:t>
            </a:r>
          </a:p>
        </p:txBody>
      </p:sp>
      <p:sp>
        <p:nvSpPr>
          <p:cNvPr id="154" name="TextBox 4"/>
          <p:cNvSpPr txBox="1"/>
          <p:nvPr/>
        </p:nvSpPr>
        <p:spPr>
          <a:xfrm>
            <a:off x="3424607" y="6126479"/>
            <a:ext cx="5342481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i="1" sz="2200">
                <a:solidFill>
                  <a:srgbClr val="F59E0B"/>
                </a:solidFill>
              </a:defRPr>
            </a:lvl1pPr>
          </a:lstStyle>
          <a:p>
            <a:pPr/>
            <a:r>
              <a:t>Looking for internships/jobs in tech? Let's talk!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